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53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79" r:id="rId6"/>
    <p:sldId id="280" r:id="rId7"/>
    <p:sldId id="265" r:id="rId8"/>
    <p:sldId id="266" r:id="rId9"/>
    <p:sldId id="268" r:id="rId10"/>
    <p:sldId id="269" r:id="rId11"/>
    <p:sldId id="281" r:id="rId12"/>
    <p:sldId id="273" r:id="rId13"/>
    <p:sldId id="277" r:id="rId14"/>
    <p:sldId id="283" r:id="rId15"/>
    <p:sldId id="282" r:id="rId16"/>
    <p:sldId id="275" r:id="rId17"/>
    <p:sldId id="274" r:id="rId18"/>
    <p:sldId id="27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VARAKONDA RAVITEJA" initials="D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Medium Style 3">
    <a:wholeTbl>
      <a:tcTxStyle>
        <a:fontRef idx="minor">
          <a:srgbClr val="00000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2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Before Mobile Surveillance Robot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EEAF-470A-B1A7-B0F4EAD6934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EEAF-470A-B1A7-B0F4EAD6934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EEAF-470A-B1A7-B0F4EAD6934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EEAF-470A-B1A7-B0F4EAD69349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Installation Cost</c:v>
                </c:pt>
                <c:pt idx="1">
                  <c:v>Rural/Remote Surveillance</c:v>
                </c:pt>
                <c:pt idx="2">
                  <c:v>Urban CCTV Coverage</c:v>
                </c:pt>
                <c:pt idx="3">
                  <c:v>Response Time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33.299999999999997</c:v>
                </c:pt>
                <c:pt idx="1">
                  <c:v>5.6</c:v>
                </c:pt>
                <c:pt idx="2">
                  <c:v>38.9</c:v>
                </c:pt>
                <c:pt idx="3">
                  <c:v>22.2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10-4DDD-95D7-ADAC45D30E0E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After Mobile Surveillance Robot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After Mobile Surveillance Robot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4CD3-4A60-B509-A1D4A17407C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4CD3-4A60-B509-A1D4A17407C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4CD3-4A60-B509-A1D4A17407C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4CD3-4A60-B509-A1D4A17407C4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Reduced Cost</c:v>
                </c:pt>
                <c:pt idx="1">
                  <c:v>Rural/Remote Surveillance with Robot</c:v>
                </c:pt>
                <c:pt idx="2">
                  <c:v>Urban CCTV + Robots</c:v>
                </c:pt>
                <c:pt idx="3">
                  <c:v>Improved Response Time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21.7</c:v>
                </c:pt>
                <c:pt idx="2">
                  <c:v>34.799999999999997</c:v>
                </c:pt>
                <c:pt idx="3">
                  <c:v>34.799999999999997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DD-4394-8524-6DBB29DB12B1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38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CD1564-E2DF-4FD3-AE55-2801D824E89A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10487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10487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1A444-BB96-492C-99A0-AD981616E26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BFA4A-4CE2-4029-AF89-2C3A22D41ACD}" type="datetime1">
              <a:rPr lang="en-US" smtClean="0"/>
              <a:t>4/22/2025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A12-411A-4B36-8280-7658C410C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360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258B-953F-465D-B8ED-1F3CA08AF943}" type="datetime1">
              <a:rPr lang="en-US" smtClean="0"/>
              <a:t>4/22/2025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A12-411A-4B36-8280-7658C410C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373233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232-F0ED-45A6-BC6A-195A8E4639C1}" type="datetime1">
              <a:rPr lang="en-US" smtClean="0"/>
              <a:t>4/22/2025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A12-411A-4B36-8280-7658C410C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125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258B-953F-465D-B8ED-1F3CA08AF943}" type="datetime1">
              <a:rPr lang="en-US" smtClean="0"/>
              <a:t>4/22/2025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A12-411A-4B36-8280-7658C410C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040686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258B-953F-465D-B8ED-1F3CA08AF943}" type="datetime1">
              <a:rPr lang="en-US" smtClean="0"/>
              <a:t>4/22/2025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A12-411A-4B36-8280-7658C410C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165489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81B02-634A-4245-8562-01A156B116CD}" type="datetime1">
              <a:rPr lang="en-US" smtClean="0"/>
              <a:t>4/22/2025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A12-411A-4B36-8280-7658C410C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147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4085F-2809-4012-A139-DF4C9809B380}" type="datetime1">
              <a:rPr lang="en-US" smtClean="0"/>
              <a:t>4/22/2025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A12-411A-4B36-8280-7658C410C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833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258B-953F-465D-B8ED-1F3CA08AF943}" type="datetime1">
              <a:rPr lang="en-US" smtClean="0"/>
              <a:t>4/22/2025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A12-411A-4B36-8280-7658C410C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140235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0B23E-0FA3-4333-B794-6A65645253A9}" type="datetime1">
              <a:rPr lang="en-US" smtClean="0"/>
              <a:t>4/22/2025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A12-411A-4B36-8280-7658C410C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19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258B-953F-465D-B8ED-1F3CA08AF943}" type="datetime1">
              <a:rPr lang="en-US" smtClean="0"/>
              <a:t>4/22/2025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A12-411A-4B36-8280-7658C410C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822466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258B-953F-465D-B8ED-1F3CA08AF943}" type="datetime1">
              <a:rPr lang="en-US" smtClean="0"/>
              <a:t>4/22/2025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A12-411A-4B36-8280-7658C410CB8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5959385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258B-953F-465D-B8ED-1F3CA08AF943}" type="datetime1">
              <a:rPr lang="en-US" smtClean="0"/>
              <a:t>4/22/2025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A12-411A-4B36-8280-7658C410C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201846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258B-953F-465D-B8ED-1F3CA08AF943}" type="datetime1">
              <a:rPr lang="en-US" smtClean="0"/>
              <a:t>4/22/2025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A12-411A-4B36-8280-7658C410CB8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6356147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258B-953F-465D-B8ED-1F3CA08AF943}" type="datetime1">
              <a:rPr lang="en-US" smtClean="0"/>
              <a:t>4/22/2025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A12-411A-4B36-8280-7658C410C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051203"/>
      </p:ext>
    </p:extLst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258B-953F-465D-B8ED-1F3CA08AF943}" type="datetime1">
              <a:rPr lang="en-US" smtClean="0"/>
              <a:t>4/22/2025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A12-411A-4B36-8280-7658C410C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859592"/>
      </p:ext>
    </p:extLst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258B-953F-465D-B8ED-1F3CA08AF943}" type="datetime1">
              <a:rPr lang="en-US" smtClean="0"/>
              <a:t>4/22/2025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25A12-411A-4B36-8280-7658C410C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134555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3258B-953F-465D-B8ED-1F3CA08AF943}" type="datetime1">
              <a:rPr lang="en-US" smtClean="0"/>
              <a:t>4/22/2025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0725A12-411A-4B36-8280-7658C410C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677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4" r:id="rId1"/>
    <p:sldLayoutId id="2147484255" r:id="rId2"/>
    <p:sldLayoutId id="2147484256" r:id="rId3"/>
    <p:sldLayoutId id="2147484257" r:id="rId4"/>
    <p:sldLayoutId id="2147484258" r:id="rId5"/>
    <p:sldLayoutId id="2147484259" r:id="rId6"/>
    <p:sldLayoutId id="2147484260" r:id="rId7"/>
    <p:sldLayoutId id="2147484261" r:id="rId8"/>
    <p:sldLayoutId id="2147484262" r:id="rId9"/>
    <p:sldLayoutId id="2147484263" r:id="rId10"/>
    <p:sldLayoutId id="2147484264" r:id="rId11"/>
    <p:sldLayoutId id="2147484265" r:id="rId12"/>
    <p:sldLayoutId id="2147484266" r:id="rId13"/>
    <p:sldLayoutId id="2147484267" r:id="rId14"/>
    <p:sldLayoutId id="2147484268" r:id="rId15"/>
    <p:sldLayoutId id="2147484269" r:id="rId16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FCE6F35-1275-B2C3-D670-79EF15C9C6F1}"/>
              </a:ext>
            </a:extLst>
          </p:cNvPr>
          <p:cNvSpPr txBox="1">
            <a:spLocks/>
          </p:cNvSpPr>
          <p:nvPr/>
        </p:nvSpPr>
        <p:spPr>
          <a:xfrm>
            <a:off x="2328728" y="676824"/>
            <a:ext cx="8875935" cy="80353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33" b="1" dirty="0">
                <a:solidFill>
                  <a:srgbClr val="050505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CHEBROLU ENGINEERING COLLEGE</a:t>
            </a:r>
            <a:endParaRPr lang="en-US" sz="3000" b="1" dirty="0">
              <a:latin typeface="Times New Roman" panose="02020603050405020304" pitchFamily="18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D782411-5FDE-F0DF-5524-0FA70EA37B60}"/>
              </a:ext>
            </a:extLst>
          </p:cNvPr>
          <p:cNvSpPr txBox="1">
            <a:spLocks/>
          </p:cNvSpPr>
          <p:nvPr/>
        </p:nvSpPr>
        <p:spPr>
          <a:xfrm>
            <a:off x="165308" y="4216625"/>
            <a:ext cx="4138083" cy="972443"/>
          </a:xfrm>
          <a:prstGeom prst="rect">
            <a:avLst/>
          </a:prstGeom>
        </p:spPr>
        <p:txBody>
          <a:bodyPr vert="horz" lIns="76200" tIns="38100" rIns="76200" bIns="3810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</a:t>
            </a:r>
          </a:p>
        </p:txBody>
      </p:sp>
      <p:pic>
        <p:nvPicPr>
          <p:cNvPr id="14" name="Picture 13" descr="Profile for Chebrolu engineering college">
            <a:extLst>
              <a:ext uri="{FF2B5EF4-FFF2-40B4-BE49-F238E27FC236}">
                <a16:creationId xmlns:a16="http://schemas.microsoft.com/office/drawing/2014/main" id="{72C86D3C-1459-0410-BB58-553E67C39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648" y="355152"/>
            <a:ext cx="1658438" cy="144687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E0EC4A1E-F53C-B991-C706-82D1D6700066}"/>
              </a:ext>
            </a:extLst>
          </p:cNvPr>
          <p:cNvSpPr txBox="1">
            <a:spLocks/>
          </p:cNvSpPr>
          <p:nvPr/>
        </p:nvSpPr>
        <p:spPr>
          <a:xfrm>
            <a:off x="2879287" y="1123852"/>
            <a:ext cx="7584057" cy="803535"/>
          </a:xfrm>
          <a:prstGeom prst="rect">
            <a:avLst/>
          </a:prstGeom>
        </p:spPr>
        <p:txBody>
          <a:bodyPr vert="horz" lIns="76200" tIns="38100" rIns="76200" bIns="3810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b="1" dirty="0">
              <a:solidFill>
                <a:srgbClr val="050505"/>
              </a:solidFill>
              <a:latin typeface="Segoe UI Historic"/>
              <a:ea typeface="Segoe UI Historic"/>
              <a:cs typeface="Segoe UI Historic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2328610-B699-C29D-F6E5-CC3C2411AD42}"/>
              </a:ext>
            </a:extLst>
          </p:cNvPr>
          <p:cNvSpPr txBox="1">
            <a:spLocks/>
          </p:cNvSpPr>
          <p:nvPr/>
        </p:nvSpPr>
        <p:spPr>
          <a:xfrm>
            <a:off x="2687431" y="1205862"/>
            <a:ext cx="7464246" cy="276366"/>
          </a:xfrm>
          <a:prstGeom prst="rect">
            <a:avLst/>
          </a:prstGeom>
        </p:spPr>
        <p:txBody>
          <a:bodyPr vert="horz" lIns="76200" tIns="38100" rIns="76200" bIns="3810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67" b="1" dirty="0">
                <a:solidFill>
                  <a:srgbClr val="111111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Main Road, </a:t>
            </a:r>
            <a:r>
              <a:rPr lang="en-US" sz="1167" b="1" dirty="0" err="1">
                <a:solidFill>
                  <a:srgbClr val="111111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Chebrolu</a:t>
            </a:r>
            <a:r>
              <a:rPr lang="en-US" sz="1167" b="1" dirty="0">
                <a:solidFill>
                  <a:srgbClr val="111111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, </a:t>
            </a:r>
            <a:r>
              <a:rPr lang="en-US" sz="1167" b="1" dirty="0" err="1">
                <a:solidFill>
                  <a:srgbClr val="111111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Chebrolu</a:t>
            </a:r>
            <a:r>
              <a:rPr lang="en-US" sz="1167" b="1" dirty="0">
                <a:solidFill>
                  <a:srgbClr val="111111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, Guntur - 522212 (Near Power Station)</a:t>
            </a:r>
            <a:endParaRPr lang="en-US" sz="1167" b="1" dirty="0">
              <a:latin typeface="Times New Roman" panose="02020603050405020304" pitchFamily="18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4468FA8F-81DE-1968-F275-E045B105DC8C}"/>
              </a:ext>
            </a:extLst>
          </p:cNvPr>
          <p:cNvSpPr txBox="1">
            <a:spLocks/>
          </p:cNvSpPr>
          <p:nvPr/>
        </p:nvSpPr>
        <p:spPr>
          <a:xfrm>
            <a:off x="445466" y="4619597"/>
            <a:ext cx="5145434" cy="457500"/>
          </a:xfrm>
          <a:prstGeom prst="rect">
            <a:avLst/>
          </a:prstGeom>
        </p:spPr>
        <p:txBody>
          <a:bodyPr vert="horz" lIns="76200" tIns="38100" rIns="76200" bIns="3810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</a:t>
            </a:r>
            <a:r>
              <a:rPr lang="en-I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ANKA SIVA PRASAD KATURU 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MTech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0EC261ED-4C98-098B-CC05-657041B23A01}"/>
              </a:ext>
            </a:extLst>
          </p:cNvPr>
          <p:cNvSpPr txBox="1">
            <a:spLocks/>
          </p:cNvSpPr>
          <p:nvPr/>
        </p:nvSpPr>
        <p:spPr>
          <a:xfrm>
            <a:off x="7103115" y="4012048"/>
            <a:ext cx="4535608" cy="436799"/>
          </a:xfrm>
          <a:prstGeom prst="rect">
            <a:avLst/>
          </a:prstGeom>
        </p:spPr>
        <p:txBody>
          <a:bodyPr vert="horz" lIns="76200" tIns="38100" rIns="76200" bIns="3810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D9C6EB0D-02F2-2490-CF9F-9F53D3AB9168}"/>
              </a:ext>
            </a:extLst>
          </p:cNvPr>
          <p:cNvSpPr txBox="1">
            <a:spLocks/>
          </p:cNvSpPr>
          <p:nvPr/>
        </p:nvSpPr>
        <p:spPr>
          <a:xfrm>
            <a:off x="6096000" y="4484725"/>
            <a:ext cx="6192252" cy="2011948"/>
          </a:xfrm>
          <a:prstGeom prst="rect">
            <a:avLst/>
          </a:prstGeom>
        </p:spPr>
        <p:txBody>
          <a:bodyPr vert="horz" lIns="76200" tIns="38100" rIns="76200" bIns="3810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arenR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Shaik Basheer		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21HU1A0437</a:t>
            </a:r>
          </a:p>
          <a:p>
            <a:pPr marL="457200" indent="-457200">
              <a:buAutoNum type="arabicParenR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Gonisipudi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Sankar		22HU5A0405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arenR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Valluru Narendra		21HU1A0448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arenR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Korumalli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Teja		21HU1A0422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arenR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C3ADA76-6352-CA4B-F409-5F24D50CEDB4}"/>
              </a:ext>
            </a:extLst>
          </p:cNvPr>
          <p:cNvSpPr txBox="1">
            <a:spLocks/>
          </p:cNvSpPr>
          <p:nvPr/>
        </p:nvSpPr>
        <p:spPr>
          <a:xfrm>
            <a:off x="1225761" y="2235391"/>
            <a:ext cx="9978902" cy="1186499"/>
          </a:xfrm>
          <a:prstGeom prst="rect">
            <a:avLst/>
          </a:prstGeom>
        </p:spPr>
        <p:txBody>
          <a:bodyPr vert="horz" lIns="76200" tIns="38100" rIns="76200" bIns="3810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SURVEILLANCE SPY ROBOT USING ESP32 WITH IOT-BASED CONTROL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>
          <a:xfrm>
            <a:off x="850900" y="457738"/>
            <a:ext cx="2862113" cy="917764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>
          <a:xfrm>
            <a:off x="850900" y="1513646"/>
            <a:ext cx="7035800" cy="500938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EXISTING SYSTEM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PROPOSED SYSTEM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HARDWARE COMPONENTS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ADVANTAGES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APPLICATIONS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FUTURE SCOPE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56CD3E-3F86-A4F6-615B-3154B67B7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67" y="558800"/>
            <a:ext cx="5249333" cy="1016000"/>
          </a:xfrm>
        </p:spPr>
        <p:txBody>
          <a:bodyPr/>
          <a:lstStyle/>
          <a:p>
            <a:r>
              <a:rPr lang="en-IN" sz="4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>
          <a:xfrm>
            <a:off x="846667" y="1574801"/>
            <a:ext cx="8293100" cy="29464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developed a cost-effective, remotely controlled Surveillance Spy Robot using ESP32 and ESP32-CAM. The robot enables real-time video surveillance and remote navigation via a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IoT-enabled</a:t>
            </a:r>
            <a:r>
              <a:rPr lang="en-IN" sz="2000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application. It offers a mobile and flexible alternative to traditional fixed surveillance systems for enhanced security and monitoring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>
          <a:xfrm>
            <a:off x="286329" y="575733"/>
            <a:ext cx="4038601" cy="6096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4000" b="1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352A2A-969F-59B4-BF62-ECB4634C9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84" y="1140649"/>
            <a:ext cx="8606843" cy="4576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" panose="02020603050405020304" pitchFamily="18" charset="0"/>
                <a:cs typeface="Times" panose="02020603050405020304" pitchFamily="18" charset="0"/>
              </a:rPr>
              <a:t>Security is important in defense, industry, and homes.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" panose="02020603050405020304" pitchFamily="18" charset="0"/>
                <a:cs typeface="Times" panose="02020603050405020304" pitchFamily="18" charset="0"/>
              </a:rPr>
              <a:t>Regular surveillance systems are costly and need fixed setups.</a:t>
            </a:r>
          </a:p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" panose="02020603050405020304" pitchFamily="18" charset="0"/>
                <a:cs typeface="Times" panose="02020603050405020304" pitchFamily="18" charset="0"/>
              </a:rPr>
              <a:t>This project presents a smart Spy Robot that can be controlled from a distance.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" panose="02020603050405020304" pitchFamily="18" charset="0"/>
                <a:cs typeface="Times" panose="02020603050405020304" pitchFamily="18" charset="0"/>
              </a:rPr>
              <a:t>It helps monitor dangerous or hard-to-reach places in real-time.</a:t>
            </a:r>
          </a:p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" panose="02020603050405020304" pitchFamily="18" charset="0"/>
                <a:cs typeface="Times" panose="02020603050405020304" pitchFamily="18" charset="0"/>
              </a:rPr>
              <a:t>The robot is operated using a Wi-Fi-based Android app.</a:t>
            </a:r>
          </a:p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" panose="02020603050405020304" pitchFamily="18" charset="0"/>
                <a:cs typeface="Times" panose="02020603050405020304" pitchFamily="18" charset="0"/>
              </a:rPr>
              <a:t>It’s a low-cost and efficient option compared to traditional systems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>
          <a:xfrm>
            <a:off x="139700" y="842304"/>
            <a:ext cx="4978400" cy="589004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D73CBD-527B-F9DA-BA8E-4BECDCCD1DF3}"/>
              </a:ext>
            </a:extLst>
          </p:cNvPr>
          <p:cNvSpPr txBox="1"/>
          <p:nvPr/>
        </p:nvSpPr>
        <p:spPr>
          <a:xfrm>
            <a:off x="637517" y="1776748"/>
            <a:ext cx="4480583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CCTV systems are fixed and need a lot of infrastructure. They can't move or adapt to changing situations. They’re not suitable for dangerous environments where human presence is risky.</a:t>
            </a:r>
          </a:p>
        </p:txBody>
      </p:sp>
      <p:pic>
        <p:nvPicPr>
          <p:cNvPr id="2054" name="Picture 6" descr="Premium Photo | CCTV Camera">
            <a:extLst>
              <a:ext uri="{FF2B5EF4-FFF2-40B4-BE49-F238E27FC236}">
                <a16:creationId xmlns:a16="http://schemas.microsoft.com/office/drawing/2014/main" id="{59EA790B-78C4-6603-061F-E308F1773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293" y="921035"/>
            <a:ext cx="5962650" cy="39719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367648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>
          <a:xfrm>
            <a:off x="-753533" y="557757"/>
            <a:ext cx="6697133" cy="79613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7DD1CB-91FC-1432-B41F-D0D89CCC4AC7}"/>
              </a:ext>
            </a:extLst>
          </p:cNvPr>
          <p:cNvSpPr txBox="1"/>
          <p:nvPr/>
        </p:nvSpPr>
        <p:spPr>
          <a:xfrm>
            <a:off x="523581" y="1543635"/>
            <a:ext cx="995391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Development of a remotely controlled Surveillance Spy Robot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Equipped with a live video streaming system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Core Components: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ESP32 Microcontroller, Motor Driver Circuit, LM2596 Power Supply Module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Wi-Fi Based Android Application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movement commands via Wi-Fi.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Transmits live video feed to the user's mobile device for remote visual monitoring.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304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>
          <a:xfrm>
            <a:off x="-408491" y="526098"/>
            <a:ext cx="7334224" cy="77723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HARDWARE COMPONENTS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1048612" name="Content Placeholder 2"/>
          <p:cNvSpPr>
            <a:spLocks noGrp="1"/>
          </p:cNvSpPr>
          <p:nvPr>
            <p:ph idx="1"/>
          </p:nvPr>
        </p:nvSpPr>
        <p:spPr>
          <a:xfrm>
            <a:off x="563206" y="1303337"/>
            <a:ext cx="7272694" cy="437864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Microcontroller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LM2596 Power Supply Module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DC-DC Converter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L298N Motor Driver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1BF9782-23F1-8517-2B6D-85ECA970CC8E}"/>
              </a:ext>
            </a:extLst>
          </p:cNvPr>
          <p:cNvSpPr txBox="1"/>
          <p:nvPr/>
        </p:nvSpPr>
        <p:spPr>
          <a:xfrm>
            <a:off x="-299453" y="425650"/>
            <a:ext cx="7145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		 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 Microcontroller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781536-A6A5-C1F6-C93D-D4C40ECDEBF5}"/>
              </a:ext>
            </a:extLst>
          </p:cNvPr>
          <p:cNvSpPr txBox="1"/>
          <p:nvPr/>
        </p:nvSpPr>
        <p:spPr>
          <a:xfrm>
            <a:off x="564060" y="4031257"/>
            <a:ext cx="9956353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ESP32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microcontroller is the core processing unit of the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Surveillance Spy Robot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project. It is a low-power, high-performance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Wi-Fi and Bluetooth-enabled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microcontroller designed for IoT and embedded system applications.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Dual-core processor (up to 240 MHz)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Wi-Fi and Bluetooth connectivity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peripherals for sensors, displays, etc.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3076" name="Picture 4" descr="NODEMCU ESP32 Development Board – Voltaat">
            <a:extLst>
              <a:ext uri="{FF2B5EF4-FFF2-40B4-BE49-F238E27FC236}">
                <a16:creationId xmlns:a16="http://schemas.microsoft.com/office/drawing/2014/main" id="{A70CE7FE-C4AF-0B0D-20DC-951A04DEDC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165"/>
          <a:stretch/>
        </p:blipFill>
        <p:spPr bwMode="auto">
          <a:xfrm>
            <a:off x="1965190" y="889363"/>
            <a:ext cx="4881224" cy="3001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1D3CC0-DAB7-9FA8-C338-F2E1F7CAB0CE}"/>
              </a:ext>
            </a:extLst>
          </p:cNvPr>
          <p:cNvSpPr txBox="1"/>
          <p:nvPr/>
        </p:nvSpPr>
        <p:spPr>
          <a:xfrm>
            <a:off x="558679" y="778698"/>
            <a:ext cx="540173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LM2596 Voltage Regulator</a:t>
            </a:r>
          </a:p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912D7D-86F7-7F2E-0CAE-5BD8F6E969AB}"/>
              </a:ext>
            </a:extLst>
          </p:cNvPr>
          <p:cNvSpPr txBox="1"/>
          <p:nvPr/>
        </p:nvSpPr>
        <p:spPr>
          <a:xfrm>
            <a:off x="635422" y="1672168"/>
            <a:ext cx="657013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LM2596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step-down voltage regulator to convert higher voltage to stable lower voltage.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 descr="LM2596S Step-down Power Supply Module">
            <a:extLst>
              <a:ext uri="{FF2B5EF4-FFF2-40B4-BE49-F238E27FC236}">
                <a16:creationId xmlns:a16="http://schemas.microsoft.com/office/drawing/2014/main" id="{20823A63-4B48-3646-63F0-4E19103DD3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0" y="1209585"/>
            <a:ext cx="4266778" cy="39248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5374A49-FF68-7551-AB01-33D35BC89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422" y="2848397"/>
            <a:ext cx="3946208" cy="1883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Input Voltage Range: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4.5V to 40V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Output Voltage: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1.25V to 37V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Output Current: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Up to 3A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Efficiency: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Up to 92%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Title 1"/>
          <p:cNvSpPr>
            <a:spLocks noGrp="1"/>
          </p:cNvSpPr>
          <p:nvPr>
            <p:ph type="title"/>
          </p:nvPr>
        </p:nvSpPr>
        <p:spPr>
          <a:xfrm>
            <a:off x="190500" y="395984"/>
            <a:ext cx="5219700" cy="933477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/>
                <a:cs typeface="Times New Roman"/>
              </a:rPr>
              <a:t>	</a:t>
            </a:r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L298N Motor Driver</a:t>
            </a:r>
            <a:endParaRPr lang="en-IN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5996555B-71CE-85C0-8C96-BB120D9302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641600" cy="26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6" descr="Robodo L298 Motor Driver Module : Amazon.in: Industrial &amp; Scientific">
            <a:extLst>
              <a:ext uri="{FF2B5EF4-FFF2-40B4-BE49-F238E27FC236}">
                <a16:creationId xmlns:a16="http://schemas.microsoft.com/office/drawing/2014/main" id="{AECD8568-E61E-284F-6D09-AFAF05421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144" y="1409700"/>
            <a:ext cx="3236911" cy="3443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8D3236-DA02-C29F-0019-AA8CCEFEEF69}"/>
              </a:ext>
            </a:extLst>
          </p:cNvPr>
          <p:cNvSpPr txBox="1"/>
          <p:nvPr/>
        </p:nvSpPr>
        <p:spPr>
          <a:xfrm>
            <a:off x="641350" y="4886531"/>
            <a:ext cx="9086850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L298N Motor Driver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in the Surveillance Spy Robot project to control the direction and speed of the robot's motors, enabling its movement and navigation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6976B-679D-71C4-7B31-1050F63A4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070" y="621734"/>
            <a:ext cx="8596668" cy="132080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TOOLS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0A82B34-CC49-256F-6E44-1590E0A32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070" y="1384999"/>
            <a:ext cx="11096659" cy="2345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 Arduino IDE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– Used for coding and uploading the program to ESP32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 Blynk IoT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– 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We used </a:t>
            </a: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Blynk IoT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 in our project to enable </a:t>
            </a:r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remote control 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of our robot over the internet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 I</a:t>
            </a:r>
            <a:r>
              <a:rPr lang="en-US" alt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P Web Cam App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– </a:t>
            </a:r>
            <a:r>
              <a:rPr lang="en-US" alt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IP Webcam for Android allows you to turn your phone into a network camera, 		             streaming video and audio to various devices and platforms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7" name="Picture 3" descr="Arduino IDE for Windows - Download it ...">
            <a:extLst>
              <a:ext uri="{FF2B5EF4-FFF2-40B4-BE49-F238E27FC236}">
                <a16:creationId xmlns:a16="http://schemas.microsoft.com/office/drawing/2014/main" id="{81CCC870-06E9-A7D1-B69B-24E04EC4F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15" y="3710945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5" descr="Blynk | IoT For All">
            <a:extLst>
              <a:ext uri="{FF2B5EF4-FFF2-40B4-BE49-F238E27FC236}">
                <a16:creationId xmlns:a16="http://schemas.microsoft.com/office/drawing/2014/main" id="{44C4C7F1-7FC1-6988-8BE4-D87536301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1903" y="3788603"/>
            <a:ext cx="1783105" cy="1783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8788AA-9781-3237-5D52-CF5AD756D9F9}"/>
              </a:ext>
            </a:extLst>
          </p:cNvPr>
          <p:cNvSpPr txBox="1"/>
          <p:nvPr/>
        </p:nvSpPr>
        <p:spPr>
          <a:xfrm>
            <a:off x="1495937" y="5866934"/>
            <a:ext cx="2334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Arduino IDE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19262A-C93A-9DA0-FFEA-D4CFA8A01955}"/>
              </a:ext>
            </a:extLst>
          </p:cNvPr>
          <p:cNvSpPr txBox="1"/>
          <p:nvPr/>
        </p:nvSpPr>
        <p:spPr>
          <a:xfrm>
            <a:off x="4757407" y="5866934"/>
            <a:ext cx="2334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Blynk IoT</a:t>
            </a:r>
          </a:p>
        </p:txBody>
      </p:sp>
      <p:pic>
        <p:nvPicPr>
          <p:cNvPr id="1026" name="Picture 2" descr="IP Webcam - Apps on Google Play">
            <a:extLst>
              <a:ext uri="{FF2B5EF4-FFF2-40B4-BE49-F238E27FC236}">
                <a16:creationId xmlns:a16="http://schemas.microsoft.com/office/drawing/2014/main" id="{32FF3226-A36A-6878-C5F1-BF0730BED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379" y="3662444"/>
            <a:ext cx="2035421" cy="2035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0F3163-2463-4D5F-5CBC-624C5C8FF13A}"/>
              </a:ext>
            </a:extLst>
          </p:cNvPr>
          <p:cNvSpPr txBox="1"/>
          <p:nvPr/>
        </p:nvSpPr>
        <p:spPr>
          <a:xfrm>
            <a:off x="7827179" y="5866934"/>
            <a:ext cx="2334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IP  Web Cam App</a:t>
            </a:r>
          </a:p>
        </p:txBody>
      </p:sp>
    </p:spTree>
    <p:extLst>
      <p:ext uri="{BB962C8B-B14F-4D97-AF65-F5344CB8AC3E}">
        <p14:creationId xmlns:p14="http://schemas.microsoft.com/office/powerpoint/2010/main" val="40837418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>
          <a:xfrm>
            <a:off x="-643466" y="0"/>
            <a:ext cx="4563533" cy="126469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                      				  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ADVANTAGES</a:t>
            </a:r>
          </a:p>
        </p:txBody>
      </p:sp>
      <p:sp>
        <p:nvSpPr>
          <p:cNvPr id="1048632" name="Content Placeholder 2"/>
          <p:cNvSpPr>
            <a:spLocks noGrp="1"/>
          </p:cNvSpPr>
          <p:nvPr>
            <p:ph idx="1"/>
          </p:nvPr>
        </p:nvSpPr>
        <p:spPr>
          <a:xfrm>
            <a:off x="632520" y="1264691"/>
            <a:ext cx="11241979" cy="514880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Mobility and Flexibility: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navigate various environments.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Control: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from a safe distance.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video feed for immediate observation.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readily available and affordable components.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Operation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Eliminates the need for extensive wiring.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Hazardous Environments: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need for human presence in dangerous areas.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Portable and Autonomous Alternative: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fixed CCTV systems.</a:t>
            </a:r>
            <a:endParaRPr lang="en-US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>
          <a:xfrm>
            <a:off x="793103" y="0"/>
            <a:ext cx="5683897" cy="1396949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                    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C0D65-F22F-F7E4-055F-DB74E1D311C4}"/>
              </a:ext>
            </a:extLst>
          </p:cNvPr>
          <p:cNvSpPr txBox="1">
            <a:spLocks/>
          </p:cNvSpPr>
          <p:nvPr/>
        </p:nvSpPr>
        <p:spPr>
          <a:xfrm>
            <a:off x="328936" y="647623"/>
            <a:ext cx="4648200" cy="846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Applications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37C306-A8BC-DE34-1FA9-A46A72C66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9F359B6-FE63-06AE-4841-215B7E3B5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803" y="1359587"/>
            <a:ext cx="9067800" cy="3076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Home/business surveillance, intrusion detection.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Military: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Reconnaissance, surveillance, battlefield assessment.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Hazardous area monitoring, remote site inspection.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Home: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General monitoring of property, people, or pets.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Perimeter: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Boundary security, intrusion alerts. </a:t>
            </a:r>
          </a:p>
        </p:txBody>
      </p:sp>
    </p:spTree>
    <p:extLst>
      <p:ext uri="{BB962C8B-B14F-4D97-AF65-F5344CB8AC3E}">
        <p14:creationId xmlns:p14="http://schemas.microsoft.com/office/powerpoint/2010/main" val="1525081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9047-5DC8-E6E9-D2D4-B1A722931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134" y="640080"/>
            <a:ext cx="2898986" cy="64008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STATISTICS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04A3A31E-7B12-C392-C24D-98449B35F6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7108110"/>
              </p:ext>
            </p:extLst>
          </p:nvPr>
        </p:nvGraphicFramePr>
        <p:xfrm>
          <a:off x="474134" y="1626695"/>
          <a:ext cx="5406914" cy="3604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1422DBF5-ED1D-D7C9-CCAC-072552238C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7323363"/>
              </p:ext>
            </p:extLst>
          </p:nvPr>
        </p:nvGraphicFramePr>
        <p:xfrm>
          <a:off x="6096000" y="1626695"/>
          <a:ext cx="5406914" cy="3604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0617260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22573-C78C-6609-EC8D-9D3484C6C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RESULTS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EF0ECAB-BA54-FBDD-7075-0448742A30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620814" y="1381277"/>
            <a:ext cx="3125318" cy="35870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A9EDE5-7644-CE8B-68E0-CF1229BFF6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rcRect t="14515" b="11667"/>
          <a:stretch/>
        </p:blipFill>
        <p:spPr>
          <a:xfrm>
            <a:off x="8616777" y="1577305"/>
            <a:ext cx="3247015" cy="31949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A6959F-93D8-BA12-519D-4C21B9256A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062" y="1715915"/>
            <a:ext cx="4195647" cy="29177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098063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title"/>
          </p:nvPr>
        </p:nvSpPr>
        <p:spPr>
          <a:xfrm>
            <a:off x="607182" y="483424"/>
            <a:ext cx="3433232" cy="752709"/>
          </a:xfrm>
        </p:spPr>
        <p:txBody>
          <a:bodyPr>
            <a:noAutofit/>
          </a:bodyPr>
          <a:lstStyle/>
          <a:p>
            <a:pPr algn="ctr"/>
            <a:r>
              <a:rPr lang="en-IN" sz="3200" b="1" spc="-5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FUTURE SCOPE</a:t>
            </a:r>
            <a:br>
              <a:rPr lang="en-IN" dirty="0">
                <a:latin typeface="Times New Roman"/>
                <a:cs typeface="Times New Roman"/>
              </a:rPr>
            </a:b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43AE13-4653-09B4-098D-36B08EC6D61E}"/>
              </a:ext>
            </a:extLst>
          </p:cNvPr>
          <p:cNvSpPr txBox="1"/>
          <p:nvPr/>
        </p:nvSpPr>
        <p:spPr>
          <a:xfrm>
            <a:off x="694268" y="1236133"/>
            <a:ext cx="8314266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Mobility with obstacle avoidance.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Video Quality with higher resolution or compression.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Range with alternative wireless protocols (LoRa).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Advanced Features like night vision, audio recording, object detection.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AI Integration for intelligent surveillance 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Power Consumption for longer operation.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>
          <a:xfrm>
            <a:off x="821328" y="559787"/>
            <a:ext cx="3335867" cy="730781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048634" name="object 5"/>
          <p:cNvSpPr txBox="1">
            <a:spLocks noGrp="1"/>
          </p:cNvSpPr>
          <p:nvPr>
            <p:ph idx="1"/>
          </p:nvPr>
        </p:nvSpPr>
        <p:spPr>
          <a:xfrm>
            <a:off x="821328" y="1478046"/>
            <a:ext cx="9089026" cy="357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designed and developed a cost-effective, remotely controlled Surveillance Spy Robot.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real-time video surveillance and remote navigation capabilities.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 practical solution for overcoming the limitations of traditional surveillance systems.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mobile, flexible, and easily deployable system for various security and monitoring needs. </a:t>
            </a:r>
            <a:endParaRPr lang="en-IN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THANK YOU</a:t>
            </a:r>
            <a:endParaRPr lang="en-US" sz="5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1024</TotalTime>
  <Words>763</Words>
  <Application>Microsoft Office PowerPoint</Application>
  <PresentationFormat>Widescreen</PresentationFormat>
  <Paragraphs>104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Segoe UI Historic</vt:lpstr>
      <vt:lpstr>Times</vt:lpstr>
      <vt:lpstr>Times New Roman</vt:lpstr>
      <vt:lpstr>Trebuchet MS</vt:lpstr>
      <vt:lpstr>Wingdings</vt:lpstr>
      <vt:lpstr>Wingdings 3</vt:lpstr>
      <vt:lpstr>Facet</vt:lpstr>
      <vt:lpstr>PowerPoint Presentation</vt:lpstr>
      <vt:lpstr>CONTENTS</vt:lpstr>
      <vt:lpstr>ABSTRACT</vt:lpstr>
      <vt:lpstr> INTRODUCTION</vt:lpstr>
      <vt:lpstr>EXISTING SYSTEM</vt:lpstr>
      <vt:lpstr>   PROPOSED SYSTEM</vt:lpstr>
      <vt:lpstr>  HARDWARE COMPONENTS </vt:lpstr>
      <vt:lpstr>PowerPoint Presentation</vt:lpstr>
      <vt:lpstr>PowerPoint Presentation</vt:lpstr>
      <vt:lpstr> L298N Motor Driver</vt:lpstr>
      <vt:lpstr>SOFTWARE TOOLS</vt:lpstr>
      <vt:lpstr>                                         ADVANTAGES</vt:lpstr>
      <vt:lpstr>                              </vt:lpstr>
      <vt:lpstr>STATISTICS</vt:lpstr>
      <vt:lpstr>RESULTS</vt:lpstr>
      <vt:lpstr>FUTURE SCOPE 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basheer</dc:creator>
  <cp:lastModifiedBy>basheer shaik</cp:lastModifiedBy>
  <cp:revision>65</cp:revision>
  <dcterms:created xsi:type="dcterms:W3CDTF">2022-07-28T06:05:32Z</dcterms:created>
  <dcterms:modified xsi:type="dcterms:W3CDTF">2025-04-22T12:07:00Z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cd39eae24c424deeafa171b7aeb3dafc</vt:lpwstr>
  </property>
</Properties>
</file>